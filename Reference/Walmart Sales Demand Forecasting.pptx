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166EC-8C03-32BA-439C-F9D632CB40D7}" v="284" dt="2025-10-10T21:26:36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1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5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02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6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1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5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9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0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5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2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6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380A1-6EFA-AB7C-788B-D26220D8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56" r="9091" b="7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b="1">
                <a:latin typeface="Segoe UI"/>
                <a:cs typeface="Segoe UI"/>
              </a:rPr>
              <a:t>Walmart Sales Demand Forecasting</a:t>
            </a:r>
            <a:endParaRPr lang="en-US" sz="5800"/>
          </a:p>
          <a:p>
            <a:pPr>
              <a:lnSpc>
                <a:spcPct val="90000"/>
              </a:lnSpc>
            </a:pPr>
            <a:endParaRPr lang="en-US" sz="5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00">
                <a:latin typeface="Segoe UI"/>
                <a:cs typeface="Segoe UI"/>
              </a:rPr>
              <a:t>M5 Competition Dataset Analysis</a:t>
            </a:r>
          </a:p>
          <a:p>
            <a:pPr>
              <a:lnSpc>
                <a:spcPct val="100000"/>
              </a:lnSpc>
            </a:pPr>
            <a:r>
              <a:rPr lang="en-US" sz="1200">
                <a:ea typeface="+mn-lt"/>
                <a:cs typeface="+mn-lt"/>
              </a:rPr>
              <a:t>Advanced Time Series Forecasting using Machine Learning and Deep Learning Approaches for Multi-Level Hierarchical Retail Data</a:t>
            </a:r>
            <a:endParaRPr lang="en-US" sz="12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84F37-0D01-6717-FD2E-CA548E67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14400"/>
            <a:ext cx="3095616" cy="19287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70C0"/>
                </a:solidFill>
                <a:latin typeface="Segoe UI"/>
                <a:cs typeface="Segoe UI"/>
              </a:rPr>
              <a:t>Abstract &amp; Introduction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en-US" sz="28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E72D5CEA-DDED-5196-0183-BD74DBC3C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13" r="18780" b="-2"/>
          <a:stretch>
            <a:fillRect/>
          </a:stretch>
        </p:blipFill>
        <p:spPr>
          <a:xfrm>
            <a:off x="804673" y="3044952"/>
            <a:ext cx="3024378" cy="29718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88AAD-EA37-284D-FB5A-ECEB5C6D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820" y="968377"/>
            <a:ext cx="7201797" cy="50064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>
                <a:latin typeface="Segoe UI"/>
                <a:cs typeface="Segoe UI"/>
              </a:rPr>
              <a:t>Problem Statement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dirty="0">
                <a:latin typeface="Segoe UI"/>
                <a:cs typeface="Segoe UI"/>
              </a:rPr>
              <a:t>Accurate demand forecasting is critical for retail operations, impacting inventory management, supply chain optimization, and revenue maximization. Traditional methods struggle with complex, multi-dimensional retail data.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latin typeface="Segoe UI"/>
                <a:cs typeface="Segoe UI"/>
              </a:rPr>
              <a:t>Dataset Overview: M5 Competition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b="1" dirty="0">
                <a:latin typeface="Segoe UI"/>
                <a:cs typeface="Segoe UI"/>
              </a:rPr>
              <a:t>Scale:</a:t>
            </a:r>
            <a:r>
              <a:rPr lang="en-US" sz="1400" dirty="0">
                <a:latin typeface="Segoe UI"/>
                <a:cs typeface="Segoe UI"/>
              </a:rPr>
              <a:t> 30,490 products across 10 Walmart stores in 3 states (CA, TX, WI)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b="1" dirty="0">
                <a:latin typeface="Segoe UI"/>
                <a:cs typeface="Segoe UI"/>
              </a:rPr>
              <a:t>Time Period:</a:t>
            </a:r>
            <a:r>
              <a:rPr lang="en-US" sz="1400" dirty="0">
                <a:latin typeface="Segoe UI"/>
                <a:cs typeface="Segoe UI"/>
              </a:rPr>
              <a:t> 1,969 days of historical sales data (2011-2016)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b="1" dirty="0">
                <a:latin typeface="Segoe UI"/>
                <a:cs typeface="Segoe UI"/>
              </a:rPr>
              <a:t>Hierarchical Structure:</a:t>
            </a:r>
            <a:r>
              <a:rPr lang="en-US" sz="1400" dirty="0">
                <a:latin typeface="Segoe UI"/>
                <a:cs typeface="Segoe UI"/>
              </a:rPr>
              <a:t> Product → Category → Department → Store → State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b="1" dirty="0">
                <a:latin typeface="Segoe UI"/>
                <a:cs typeface="Segoe UI"/>
              </a:rPr>
              <a:t>Additional Features:</a:t>
            </a:r>
            <a:r>
              <a:rPr lang="en-US" sz="1400" dirty="0">
                <a:latin typeface="Segoe UI"/>
                <a:cs typeface="Segoe UI"/>
              </a:rPr>
              <a:t> Calendar events, SNAP benefits, price variations, promotions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latin typeface="Segoe UI"/>
                <a:cs typeface="Segoe UI"/>
              </a:rPr>
              <a:t>Project Significance</a:t>
            </a:r>
            <a:endParaRPr lang="en-US" sz="1400" dirty="0">
              <a:latin typeface="Calisto MT"/>
              <a:cs typeface="Segoe UI"/>
            </a:endParaRPr>
          </a:p>
          <a:p>
            <a:pPr>
              <a:lnSpc>
                <a:spcPct val="100000"/>
              </a:lnSpc>
              <a:buNone/>
            </a:pPr>
            <a:r>
              <a:rPr lang="en-US" sz="1400" dirty="0">
                <a:latin typeface="Segoe UI"/>
                <a:cs typeface="Segoe UI"/>
              </a:rPr>
              <a:t>This project addresses real-world retail challenges by developing robust forecasting models that handle: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dirty="0">
                <a:latin typeface="Segoe UI"/>
                <a:cs typeface="Segoe UI"/>
              </a:rPr>
              <a:t>High-dimensional time series data with multiple hierarchical levels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dirty="0">
                <a:latin typeface="Segoe UI"/>
                <a:cs typeface="Segoe UI"/>
              </a:rPr>
              <a:t>External factors like holidays, events, and economic indicators</a:t>
            </a:r>
            <a:endParaRPr lang="en-US" sz="14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 dirty="0">
                <a:latin typeface="Segoe UI"/>
                <a:cs typeface="Segoe UI"/>
              </a:rPr>
              <a:t>Intermittent demand patterns and zero-inflation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83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4338-6FA6-E6EA-99AA-02B29543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>
                <a:solidFill>
                  <a:srgbClr val="0071CE"/>
                </a:solidFill>
                <a:latin typeface="Segoe UI"/>
                <a:cs typeface="Segoe UI"/>
              </a:rPr>
              <a:t>Literature Review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A3B3-4C57-0D21-AEA2-16EF88A0B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2948"/>
            <a:ext cx="10520668" cy="42289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/>
                <a:cs typeface="Segoe UI"/>
              </a:rPr>
              <a:t>Traditional Statistical Methods: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ARIMA &amp; SARIMA: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Widely used for univariate time series; capture trends and seasonality but struggle with multivariate dependencies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Exponential Smoothing (ETS):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Effective for simple seasonal patterns; limited in handling complex external variables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Prophet (Facebook):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Handles seasonality and holidays well; lacks deep pattern recognition for hierarchical data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/>
                <a:cs typeface="Segoe UI"/>
              </a:rPr>
              <a:t>Machine Learning Approaches: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Random Forest &amp; </a:t>
            </a:r>
            <a:r>
              <a:rPr lang="en-US" sz="1200" b="1" err="1">
                <a:solidFill>
                  <a:srgbClr val="0071CE"/>
                </a:solidFill>
                <a:latin typeface="Segoe UI"/>
                <a:cs typeface="Segoe UI"/>
              </a:rPr>
              <a:t>XGBoost</a:t>
            </a:r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Strong performance with feature engineering; require extensive manual feature creation</a:t>
            </a:r>
            <a:endParaRPr lang="en-US" sz="1200" dirty="0"/>
          </a:p>
          <a:p>
            <a:r>
              <a:rPr lang="en-US" sz="1200" b="1" err="1">
                <a:solidFill>
                  <a:srgbClr val="0071CE"/>
                </a:solidFill>
                <a:latin typeface="Segoe UI"/>
                <a:cs typeface="Segoe UI"/>
              </a:rPr>
              <a:t>LightGBM</a:t>
            </a:r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Used by M5 competition winners; excellent with tabular data and categorical features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Support Vector Regression (SVR):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Handles non-linear relationships; computationally expensive for large datasets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/>
                <a:cs typeface="Segoe UI"/>
              </a:rPr>
              <a:t>Deep Learning Methods: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LSTM &amp; GRU Networks: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Capture long-term temporal dependencies; proven effective in retail forecasting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Temporal Convolutional Networks (TCN):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Efficient parallel processing; good for long sequences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Transformer Models: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Attention mechanisms for complex patterns; computationally intensive</a:t>
            </a:r>
            <a:endParaRPr lang="en-US" sz="1200" dirty="0"/>
          </a:p>
          <a:p>
            <a:r>
              <a:rPr lang="en-US" sz="1200" b="1" dirty="0">
                <a:solidFill>
                  <a:srgbClr val="0071CE"/>
                </a:solidFill>
                <a:latin typeface="Segoe UI"/>
                <a:cs typeface="Segoe UI"/>
              </a:rPr>
              <a:t>N-BEATS:</a:t>
            </a:r>
            <a:r>
              <a:rPr lang="en-US" sz="1200" dirty="0">
                <a:solidFill>
                  <a:srgbClr val="444444"/>
                </a:solidFill>
                <a:latin typeface="Segoe UI"/>
                <a:cs typeface="Segoe UI"/>
              </a:rPr>
              <a:t> Pure deep learning approach without feature engineering; interpretable architecture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108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9EC4B-C1BD-CD4C-9541-36867C98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>
                <a:solidFill>
                  <a:srgbClr val="0070C0"/>
                </a:solidFill>
                <a:latin typeface="Segoe UI"/>
                <a:cs typeface="Segoe UI"/>
              </a:rPr>
              <a:t>Gaps &amp; Limitations in Existing Research</a:t>
            </a:r>
            <a:endParaRPr lang="en-US" sz="3100" dirty="0">
              <a:solidFill>
                <a:srgbClr val="0070C0"/>
              </a:solidFill>
            </a:endParaRPr>
          </a:p>
        </p:txBody>
      </p:sp>
      <p:pic>
        <p:nvPicPr>
          <p:cNvPr id="16" name="Picture 15" descr="Green and yellow layers">
            <a:extLst>
              <a:ext uri="{FF2B5EF4-FFF2-40B4-BE49-F238E27FC236}">
                <a16:creationId xmlns:a16="http://schemas.microsoft.com/office/drawing/2014/main" id="{D9DD8415-06DF-1581-F1A3-81DF50AE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15" r="24297" b="-6"/>
          <a:stretch>
            <a:fillRect/>
          </a:stretch>
        </p:blipFill>
        <p:spPr>
          <a:xfrm>
            <a:off x="715383" y="3210560"/>
            <a:ext cx="1811955" cy="2959568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42A4C-A696-0AAA-B026-31AE8566B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180" y="430608"/>
            <a:ext cx="5984406" cy="59783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200" b="1" dirty="0">
              <a:latin typeface="Segoe UI"/>
              <a:cs typeface="Segoe U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Scalability Issues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Most models struggle with 30,000+ products simultaneously. Hierarchical forecasting approaches are computationally prohibitive at scale.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Feature Engineering Burden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Traditional ML requires extensive manual feature creation. Lag features, rolling statistics, and encodings need domain expertise.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Intermittent Demand Handling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Many products have zero sales on multiple days. Standard loss functions fail to address zero-inflated distributions effectively.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Hierarchy Reconciliation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Bottom-up and top-down forecasts often disagree. Ensuring coherent predictions across aggregation levels remains challenging.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Temporal Dependencies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Statistical methods miss complex interactions between time steps. Simple models cannot capture promotional effects that span multiple weeks.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❌ Model Interpretability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>
                <a:latin typeface="Segoe UI"/>
                <a:cs typeface="Segoe UI"/>
              </a:rPr>
              <a:t>Deep learning models act as black boxes. Retail stakeholders need explainable predictions for business decisions.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/>
              <a:t> </a:t>
            </a:r>
            <a:r>
              <a:rPr lang="en-US" sz="1200" b="1" dirty="0">
                <a:solidFill>
                  <a:srgbClr val="0070C0"/>
                </a:solidFill>
              </a:rPr>
              <a:t>Key Research Gap</a:t>
            </a:r>
            <a:endParaRPr lang="en-US" sz="120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200" b="1" dirty="0">
                <a:latin typeface="Segoe UI"/>
                <a:cs typeface="Segoe UI"/>
              </a:rPr>
              <a:t>No single approach effectively balances accuracy, scalability, interpretability, and handling of hierarchical retail data with intermittent demand patterns.</a:t>
            </a: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211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1986-2F3B-3C8A-7874-C7FCFFD9F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>
                <a:solidFill>
                  <a:srgbClr val="0071CE"/>
                </a:solidFill>
                <a:latin typeface="Segoe UI"/>
                <a:cs typeface="Segoe UI"/>
              </a:rPr>
              <a:t>Research Objectives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EEA1-2EAF-CB28-B910-4A4F16671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1575"/>
            <a:ext cx="10691265" cy="42403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Primary Objective</a:t>
            </a:r>
            <a:endParaRPr lang="en-US" sz="1300" dirty="0"/>
          </a:p>
          <a:p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Develop and compare multiple forecasting approaches for accurate, scalable demand prediction across Walmart's hierarchical product structure while addressing zero-inflated sales patterns.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Segoe UI"/>
                <a:cs typeface="Segoe UI"/>
              </a:rPr>
              <a:t>Specific Goals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Build Robust Baseline Models: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Implement traditional statistical methods (ARIMA, Prophet) to establish performance benchmarks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Develop ML-Based Forecasters: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Create ensemble models (</a:t>
            </a:r>
            <a:r>
              <a:rPr lang="en-US" sz="1300" err="1">
                <a:solidFill>
                  <a:srgbClr val="444444"/>
                </a:solidFill>
                <a:latin typeface="Segoe UI"/>
                <a:cs typeface="Segoe UI"/>
              </a:rPr>
              <a:t>XGBoost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, </a:t>
            </a:r>
            <a:r>
              <a:rPr lang="en-US" sz="1300" err="1">
                <a:solidFill>
                  <a:srgbClr val="444444"/>
                </a:solidFill>
                <a:latin typeface="Segoe UI"/>
                <a:cs typeface="Segoe UI"/>
              </a:rPr>
              <a:t>LightGBM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, Random Forest) with optimized feature engineering pipelines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Implement Deep Learning Architectures: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Design and train LSTM/GRU networks, TCN, and hybrid models for sequential pattern learning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Handle Hierarchical Reconciliation: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Apply bottom-up and top-down forecasting strategies with coherent aggregation methods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Address Intermittent Demand: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Incorporate specialized loss functions and probabilistic forecasting for zero-inflated sales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Optimize Evaluation Metrics: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Use WRMSSE (Weighted Root Mean Squared Scaled Error) aligned with M5 competition standards</a:t>
            </a:r>
            <a:endParaRPr lang="en-US" sz="1300" dirty="0"/>
          </a:p>
          <a:p>
            <a:r>
              <a:rPr lang="en-US" sz="1300" b="1" dirty="0">
                <a:solidFill>
                  <a:srgbClr val="0071CE"/>
                </a:solidFill>
                <a:latin typeface="Segoe UI"/>
                <a:cs typeface="Segoe UI"/>
              </a:rPr>
              <a:t>Deploy Scalable Solution:</a:t>
            </a:r>
            <a:r>
              <a:rPr lang="en-US" sz="1300" dirty="0">
                <a:solidFill>
                  <a:srgbClr val="444444"/>
                </a:solidFill>
                <a:latin typeface="Segoe UI"/>
                <a:cs typeface="Segoe UI"/>
              </a:rPr>
              <a:t> Create an efficient pipeline capable of generating forecasts for 30,000+ time series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366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C7BD-B7CB-D0AF-8779-F2D52110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1175982"/>
            <a:ext cx="10691265" cy="1046010"/>
          </a:xfrm>
        </p:spPr>
        <p:txBody>
          <a:bodyPr/>
          <a:lstStyle/>
          <a:p>
            <a:r>
              <a:rPr lang="en-US" sz="2700" b="1" dirty="0">
                <a:solidFill>
                  <a:srgbClr val="0071CE"/>
                </a:solidFill>
                <a:latin typeface="Segoe UI"/>
                <a:cs typeface="Segoe UI"/>
              </a:rPr>
              <a:t>Contribution &amp; Module Architecture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6C0FE-97F0-CA90-2664-CD67BAD66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30861"/>
            <a:ext cx="10138416" cy="42329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ea typeface="+mn-lt"/>
                <a:cs typeface="+mn-lt"/>
              </a:rPr>
              <a:t>Module 1: Data Preprocessing &amp; Feature Engineering</a:t>
            </a:r>
          </a:p>
          <a:p>
            <a:r>
              <a:rPr lang="en-US" sz="1600" dirty="0">
                <a:ea typeface="+mn-lt"/>
                <a:cs typeface="+mn-lt"/>
              </a:rPr>
              <a:t>Handles missing values, categorical encoding, lag features (7/14/28 days), rolling statistics, and calendar features</a:t>
            </a:r>
          </a:p>
          <a:p>
            <a:r>
              <a:rPr lang="en-US" sz="1600" b="1" dirty="0">
                <a:ea typeface="+mn-lt"/>
                <a:cs typeface="+mn-lt"/>
              </a:rPr>
              <a:t>Module 2: Statistical Baseline Models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ARIMA, SARIMA, Prophet for baseline performance and seasonal pattern analysis</a:t>
            </a:r>
          </a:p>
          <a:p>
            <a:r>
              <a:rPr lang="en-US" sz="1600" b="1" dirty="0">
                <a:ea typeface="+mn-lt"/>
                <a:cs typeface="+mn-lt"/>
              </a:rPr>
              <a:t>Module 3: Gradient Boosting Ensemble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 err="1">
                <a:ea typeface="+mn-lt"/>
                <a:cs typeface="+mn-lt"/>
              </a:rPr>
              <a:t>XGBoost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LightGBM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CatBoost</a:t>
            </a:r>
            <a:r>
              <a:rPr lang="en-US" sz="1600" dirty="0">
                <a:ea typeface="+mn-lt"/>
                <a:cs typeface="+mn-lt"/>
              </a:rPr>
              <a:t> with hyperparameter optimization and feature importance</a:t>
            </a:r>
          </a:p>
          <a:p>
            <a:r>
              <a:rPr lang="en-US" sz="1600" b="1" dirty="0">
                <a:ea typeface="+mn-lt"/>
                <a:cs typeface="+mn-lt"/>
              </a:rPr>
              <a:t>Module 4: Deep Learning Time Series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LSTM/GRU networks with attention mechanisms for temporal dependencies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5391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13E0-4FD5-C4F3-71FF-49808EBD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2F13-4432-0EA1-A851-B1E441F7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1210101"/>
            <a:ext cx="10691265" cy="989145"/>
          </a:xfrm>
        </p:spPr>
        <p:txBody>
          <a:bodyPr/>
          <a:lstStyle/>
          <a:p>
            <a:r>
              <a:rPr lang="en-US" sz="2700" b="1" dirty="0">
                <a:solidFill>
                  <a:srgbClr val="0071CE"/>
                </a:solidFill>
                <a:latin typeface="Segoe UI"/>
                <a:cs typeface="Segoe UI"/>
              </a:rPr>
              <a:t>Contribution &amp; Module Architecture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0DA2F-631F-6F29-77AD-98D8B9E2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30475"/>
            <a:ext cx="10691265" cy="37314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ea typeface="+mn-lt"/>
                <a:cs typeface="+mn-lt"/>
              </a:rPr>
              <a:t>Module 5: Hierarchical Forecasting Engine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Bottom-up and top-down reconciliation ensuring coherent multi-level predictions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Module 6: Zero-Inflation Handler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Tweedie loss function and probabilistic forecasting for intermittent demand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Module 7: Evaluation Framework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WRMSSE, RMSE, MAE metrics with cross-validation across hierarchies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Module 8: Visualization Dashboard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Interactive reports with forecast comparisons and performance analytics</a:t>
            </a:r>
            <a:endParaRPr lang="en-US" sz="1600" dirty="0"/>
          </a:p>
          <a:p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0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7A01-76C8-3809-E8D7-830F930A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  <a:ea typeface="+mj-lt"/>
                <a:cs typeface="+mj-lt"/>
              </a:rPr>
              <a:t>Architecture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7" name="Content Placeholder 6" descr="A diagram of a system&#10;&#10;AI-generated content may be incorrect.">
            <a:extLst>
              <a:ext uri="{FF2B5EF4-FFF2-40B4-BE49-F238E27FC236}">
                <a16:creationId xmlns:a16="http://schemas.microsoft.com/office/drawing/2014/main" id="{87F6D599-52D5-B6B7-AA70-B8845062C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602" y="1596472"/>
            <a:ext cx="7638165" cy="436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9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E16F66AF-D800-1F0A-5B1B-F96DF529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5" t="22373" r="-6" b="90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DF55A-AAD9-F106-5A07-D2396173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THANK  YOU!!!</a:t>
            </a:r>
          </a:p>
        </p:txBody>
      </p:sp>
    </p:spTree>
    <p:extLst>
      <p:ext uri="{BB962C8B-B14F-4D97-AF65-F5344CB8AC3E}">
        <p14:creationId xmlns:p14="http://schemas.microsoft.com/office/powerpoint/2010/main" val="320359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ChronicleVTI</vt:lpstr>
      <vt:lpstr>Walmart Sales Demand Forecasting </vt:lpstr>
      <vt:lpstr>Abstract &amp; Introduction </vt:lpstr>
      <vt:lpstr>Literature Review </vt:lpstr>
      <vt:lpstr>Gaps &amp; Limitations in Existing Research</vt:lpstr>
      <vt:lpstr>Research Objectives </vt:lpstr>
      <vt:lpstr>Contribution &amp; Module Architecture </vt:lpstr>
      <vt:lpstr>Contribution &amp; Module Architecture </vt:lpstr>
      <vt:lpstr>Architecture</vt:lpstr>
      <vt:lpstr>THANK 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2025-10-10T20:38:42Z</dcterms:created>
  <dcterms:modified xsi:type="dcterms:W3CDTF">2025-10-10T21:27:34Z</dcterms:modified>
</cp:coreProperties>
</file>